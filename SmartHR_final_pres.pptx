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61bbd46fb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61bbd46fb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61bbd46f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61bbd46f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61bbd46f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61bbd46f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61bbd46fb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61bbd46fb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61bbd46fb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61bbd46fb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61bbd46fb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61bbd46fb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61bbd46fb_3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61bbd46fb_3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049875"/>
            <a:ext cx="8520600" cy="11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Smart HR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/>
              <a:t>AI for Predicting and Explaining Employee Turnover</a:t>
            </a:r>
            <a:endParaRPr sz="2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693225"/>
            <a:ext cx="8520600" cy="14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fr" sz="1460">
                <a:solidFill>
                  <a:schemeClr val="dk1"/>
                </a:solidFill>
              </a:rPr>
              <a:t>Groupe 23:</a:t>
            </a:r>
            <a:endParaRPr sz="146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46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fr" sz="1460">
                <a:solidFill>
                  <a:schemeClr val="dk1"/>
                </a:solidFill>
              </a:rPr>
              <a:t>Noa LIEGEOIS</a:t>
            </a:r>
            <a:endParaRPr sz="146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fr" sz="1460">
                <a:solidFill>
                  <a:schemeClr val="dk1"/>
                </a:solidFill>
              </a:rPr>
              <a:t>Ovia CHANEMOUGANANDA</a:t>
            </a:r>
            <a:endParaRPr sz="146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fr" sz="1460">
                <a:solidFill>
                  <a:schemeClr val="dk1"/>
                </a:solidFill>
              </a:rPr>
              <a:t>Alexandre FAU</a:t>
            </a:r>
            <a:endParaRPr sz="146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fr" sz="1460">
                <a:solidFill>
                  <a:schemeClr val="dk1"/>
                </a:solidFill>
              </a:rPr>
              <a:t>Marie-Lou JODET</a:t>
            </a:r>
            <a:endParaRPr sz="146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fr" sz="1460">
                <a:solidFill>
                  <a:schemeClr val="dk1"/>
                </a:solidFill>
              </a:rPr>
              <a:t>Arshitha KANDUKURI</a:t>
            </a:r>
            <a:endParaRPr sz="146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241225" y="239575"/>
            <a:ext cx="8520600" cy="11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The Problem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579550" y="1579525"/>
            <a:ext cx="26322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</a:rPr>
              <a:t>High employee turnover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479950" y="1579525"/>
            <a:ext cx="23907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</a:rPr>
              <a:t>Cost for the company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6279800" y="1577738"/>
            <a:ext cx="22821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</a:rPr>
              <a:t>Lack of anticipation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7795" l="22565" r="24751" t="3632"/>
          <a:stretch/>
        </p:blipFill>
        <p:spPr>
          <a:xfrm>
            <a:off x="754600" y="2219425"/>
            <a:ext cx="2282100" cy="200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 rotWithShape="1">
          <a:blip r:embed="rId4">
            <a:alphaModFix/>
          </a:blip>
          <a:srcRect b="0" l="8513" r="10640" t="0"/>
          <a:stretch/>
        </p:blipFill>
        <p:spPr>
          <a:xfrm>
            <a:off x="3284293" y="2289886"/>
            <a:ext cx="2747900" cy="226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 rotWithShape="1">
          <a:blip r:embed="rId5">
            <a:alphaModFix/>
          </a:blip>
          <a:srcRect b="0" l="6718" r="25143" t="0"/>
          <a:stretch/>
        </p:blipFill>
        <p:spPr>
          <a:xfrm>
            <a:off x="6279800" y="2060890"/>
            <a:ext cx="2282100" cy="2231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ctrTitle"/>
          </p:nvPr>
        </p:nvSpPr>
        <p:spPr>
          <a:xfrm>
            <a:off x="208550" y="286550"/>
            <a:ext cx="8520600" cy="11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Our Solution</a:t>
            </a:r>
            <a:endParaRPr/>
          </a:p>
        </p:txBody>
      </p:sp>
      <p:pic>
        <p:nvPicPr>
          <p:cNvPr descr="arrow (fourni par Getty Images)"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5314" y="2309846"/>
            <a:ext cx="3867049" cy="386704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497100" y="1637025"/>
            <a:ext cx="8149800" cy="29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1800">
                <a:solidFill>
                  <a:schemeClr val="dk1"/>
                </a:solidFill>
              </a:rPr>
              <a:t>Explaining</a:t>
            </a:r>
            <a:r>
              <a:rPr lang="fr" sz="1800">
                <a:solidFill>
                  <a:schemeClr val="dk1"/>
                </a:solidFill>
              </a:rPr>
              <a:t> you the main reasons why employee are leaving the company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1800">
                <a:solidFill>
                  <a:schemeClr val="dk1"/>
                </a:solidFill>
              </a:rPr>
              <a:t>Predict the risk of an employee leaving the company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1800">
                <a:solidFill>
                  <a:schemeClr val="dk1"/>
                </a:solidFill>
              </a:rPr>
              <a:t>Helping the HR department understand the dynamics at play and make decisions</a:t>
            </a:r>
            <a:endParaRPr sz="2100">
              <a:solidFill>
                <a:srgbClr val="1F1F1F"/>
              </a:solidFill>
              <a:highlight>
                <a:srgbClr val="F8F9FA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ctrTitle"/>
          </p:nvPr>
        </p:nvSpPr>
        <p:spPr>
          <a:xfrm>
            <a:off x="241225" y="263075"/>
            <a:ext cx="8520600" cy="11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Dataset Presentation</a:t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519039" y="1683975"/>
            <a:ext cx="8325900" cy="29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1800">
                <a:solidFill>
                  <a:schemeClr val="dk1"/>
                </a:solidFill>
              </a:rPr>
              <a:t>We used the employee information provided by your company : </a:t>
            </a:r>
            <a:r>
              <a:rPr lang="fr" sz="1200" u="sng">
                <a:solidFill>
                  <a:srgbClr val="3C78D8"/>
                </a:solidFill>
              </a:rPr>
              <a:t>https://www.kaggle.com/datasets/rhuebner/human-resources-data-set/data</a:t>
            </a:r>
            <a:endParaRPr sz="1200" u="sng">
              <a:solidFill>
                <a:srgbClr val="3C78D8"/>
              </a:solidFill>
            </a:endParaRPr>
          </a:p>
          <a:p>
            <a:pPr indent="0" lvl="0" marL="45720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1800">
                <a:solidFill>
                  <a:schemeClr val="dk1"/>
                </a:solidFill>
              </a:rPr>
              <a:t>The dataset allowed us to access information such as gender, marital status, salary, date of birth, etc.</a:t>
            </a:r>
            <a:endParaRPr sz="1800">
              <a:solidFill>
                <a:schemeClr val="dk1"/>
              </a:solidFill>
              <a:highlight>
                <a:srgbClr val="F8F9FA"/>
              </a:highlight>
            </a:endParaRPr>
          </a:p>
          <a:p>
            <a:pPr indent="0" lvl="0" marL="45720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8F9FA"/>
              </a:highlight>
            </a:endParaRPr>
          </a:p>
          <a:p>
            <a:pPr indent="-342900" lvl="0" marL="45720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1800">
                <a:solidFill>
                  <a:schemeClr val="dk1"/>
                </a:solidFill>
              </a:rPr>
              <a:t>We then proceeded to process the data in order to reveal key elements while protecting the anonymity of the employees</a:t>
            </a:r>
            <a:endParaRPr sz="1800">
              <a:solidFill>
                <a:srgbClr val="1F1F1F"/>
              </a:solidFill>
              <a:highlight>
                <a:srgbClr val="F8F9FA"/>
              </a:highlight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highlight>
                <a:srgbClr val="F8F9FA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ctrTitle"/>
          </p:nvPr>
        </p:nvSpPr>
        <p:spPr>
          <a:xfrm>
            <a:off x="241225" y="274800"/>
            <a:ext cx="8520600" cy="11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Data Preparation</a:t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4425" y="1562575"/>
            <a:ext cx="2141175" cy="21411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409039" y="1801425"/>
            <a:ext cx="8325900" cy="29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38100" rtl="0" algn="l">
              <a:lnSpc>
                <a:spcPct val="6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1800">
                <a:solidFill>
                  <a:schemeClr val="dk1"/>
                </a:solidFill>
              </a:rPr>
              <a:t>Removing the employee’s names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38100" rtl="0" algn="l">
              <a:lnSpc>
                <a:spcPct val="6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marR="38100" rtl="0" algn="l">
              <a:lnSpc>
                <a:spcPct val="6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38100" rtl="0" algn="l">
              <a:lnSpc>
                <a:spcPct val="6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1800">
                <a:solidFill>
                  <a:schemeClr val="dk1"/>
                </a:solidFill>
              </a:rPr>
              <a:t>Removing the employees who had been fired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38100" rtl="0" algn="l">
              <a:lnSpc>
                <a:spcPct val="6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marR="38100" rtl="0" algn="l">
              <a:lnSpc>
                <a:spcPct val="6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38100" rtl="0" algn="l">
              <a:lnSpc>
                <a:spcPct val="6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1800">
                <a:solidFill>
                  <a:schemeClr val="dk1"/>
                </a:solidFill>
              </a:rPr>
              <a:t>Converting Date of Birth into Age</a:t>
            </a:r>
            <a:endParaRPr sz="1800">
              <a:solidFill>
                <a:schemeClr val="dk1"/>
              </a:solidFill>
            </a:endParaRPr>
          </a:p>
          <a:p>
            <a:pPr indent="0" lvl="0" marL="0" marR="38100" rtl="0" algn="l">
              <a:lnSpc>
                <a:spcPct val="6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marR="38100" rtl="0" algn="l">
              <a:lnSpc>
                <a:spcPct val="6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38100" rtl="0" algn="l">
              <a:lnSpc>
                <a:spcPct val="6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1800">
                <a:solidFill>
                  <a:schemeClr val="dk1"/>
                </a:solidFill>
              </a:rPr>
              <a:t>Converting Date of Hire into Tenure Years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38100" rtl="0" algn="l">
              <a:lnSpc>
                <a:spcPct val="6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marR="38100" rtl="0" algn="l">
              <a:lnSpc>
                <a:spcPct val="6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38100" rtl="0" algn="l">
              <a:lnSpc>
                <a:spcPct val="6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1800">
                <a:solidFill>
                  <a:schemeClr val="dk1"/>
                </a:solidFill>
              </a:rPr>
              <a:t>Encoding categorical variables (Reason for leaving, ethnicity, citizenship, 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38100" rtl="0" algn="l">
              <a:lnSpc>
                <a:spcPct val="6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marR="38100" rtl="0" algn="l">
              <a:lnSpc>
                <a:spcPct val="6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</a:rPr>
              <a:t>Latino, state)</a:t>
            </a:r>
            <a:endParaRPr sz="1800">
              <a:solidFill>
                <a:schemeClr val="dk1"/>
              </a:solidFill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ctrTitle"/>
          </p:nvPr>
        </p:nvSpPr>
        <p:spPr>
          <a:xfrm>
            <a:off x="241225" y="274800"/>
            <a:ext cx="8520600" cy="112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Exploratory Analysis</a:t>
            </a:r>
            <a:endParaRPr/>
          </a:p>
        </p:txBody>
      </p:sp>
      <p:sp>
        <p:nvSpPr>
          <p:cNvPr id="92" name="Google Shape;92;p18"/>
          <p:cNvSpPr txBox="1"/>
          <p:nvPr/>
        </p:nvSpPr>
        <p:spPr>
          <a:xfrm>
            <a:off x="409039" y="1801425"/>
            <a:ext cx="8325900" cy="29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38100" rtl="0" algn="l">
              <a:lnSpc>
                <a:spcPct val="6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1800">
                <a:solidFill>
                  <a:schemeClr val="dk1"/>
                </a:solidFill>
              </a:rPr>
              <a:t>Correlation graph</a:t>
            </a:r>
            <a:endParaRPr sz="1800">
              <a:solidFill>
                <a:schemeClr val="dk1"/>
              </a:solidFill>
            </a:endParaRPr>
          </a:p>
          <a:p>
            <a:pPr indent="0" lvl="0" marL="0" marR="38100" rtl="0" algn="l">
              <a:lnSpc>
                <a:spcPct val="6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38100" rtl="0" algn="l">
              <a:lnSpc>
                <a:spcPct val="6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38100" rtl="0" algn="l">
              <a:lnSpc>
                <a:spcPct val="6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38100" rtl="0" algn="l">
              <a:lnSpc>
                <a:spcPct val="6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38100" rtl="0" algn="l">
              <a:lnSpc>
                <a:spcPct val="6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38100" rtl="0" algn="l">
              <a:lnSpc>
                <a:spcPct val="6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38100" rtl="0" algn="l">
              <a:lnSpc>
                <a:spcPct val="6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38100" rtl="0" algn="l">
              <a:lnSpc>
                <a:spcPct val="6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1800">
                <a:solidFill>
                  <a:schemeClr val="dk1"/>
                </a:solidFill>
              </a:rPr>
              <a:t>Key Variables</a:t>
            </a:r>
            <a:endParaRPr sz="1800">
              <a:solidFill>
                <a:schemeClr val="dk1"/>
              </a:solidFill>
            </a:endParaRPr>
          </a:p>
          <a:p>
            <a:pPr indent="0" lvl="0" marL="0" marR="38100" rtl="0" algn="l">
              <a:lnSpc>
                <a:spcPct val="6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38100" rtl="0" algn="l">
              <a:lnSpc>
                <a:spcPct val="6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8550" y="1704825"/>
            <a:ext cx="4328110" cy="293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ctrTitle"/>
          </p:nvPr>
        </p:nvSpPr>
        <p:spPr>
          <a:xfrm>
            <a:off x="96300" y="133900"/>
            <a:ext cx="9047700" cy="131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Model Choice </a:t>
            </a:r>
            <a:endParaRPr/>
          </a:p>
        </p:txBody>
      </p:sp>
      <p:sp>
        <p:nvSpPr>
          <p:cNvPr id="99" name="Google Shape;99;p19"/>
          <p:cNvSpPr txBox="1"/>
          <p:nvPr/>
        </p:nvSpPr>
        <p:spPr>
          <a:xfrm>
            <a:off x="519039" y="1683975"/>
            <a:ext cx="8325900" cy="29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800">
                <a:solidFill>
                  <a:schemeClr val="dk1"/>
                </a:solidFill>
              </a:rPr>
              <a:t>Why Logistic Regression?</a:t>
            </a:r>
            <a:endParaRPr b="1" sz="18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800">
                <a:solidFill>
                  <a:schemeClr val="dk1"/>
                </a:solidFill>
              </a:rPr>
              <a:t>Suitable for binary classification (leave / stay)</a:t>
            </a:r>
            <a:br>
              <a:rPr lang="fr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800">
                <a:solidFill>
                  <a:schemeClr val="dk1"/>
                </a:solidFill>
              </a:rPr>
              <a:t>Easy to interpret → understand key factors</a:t>
            </a:r>
            <a:br>
              <a:rPr lang="fr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800">
                <a:solidFill>
                  <a:schemeClr val="dk1"/>
                </a:solidFill>
              </a:rPr>
              <a:t>Fast and efficient on small datasets</a:t>
            </a:r>
            <a:br>
              <a:rPr lang="fr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800">
                <a:solidFill>
                  <a:schemeClr val="dk1"/>
                </a:solidFill>
              </a:rPr>
              <a:t>Provides probabilities to assess risk</a:t>
            </a:r>
            <a:endParaRPr sz="1100">
              <a:solidFill>
                <a:schemeClr val="dk1"/>
              </a:solidFill>
            </a:endParaRPr>
          </a:p>
          <a:p>
            <a:pPr indent="0" lvl="0" marL="457200" marR="38100" rtl="0" algn="l">
              <a:lnSpc>
                <a:spcPct val="128571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ctrTitle"/>
          </p:nvPr>
        </p:nvSpPr>
        <p:spPr>
          <a:xfrm>
            <a:off x="48150" y="122175"/>
            <a:ext cx="9047700" cy="131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Impact &amp; Conclusion </a:t>
            </a:r>
            <a:endParaRPr/>
          </a:p>
        </p:txBody>
      </p:sp>
      <p:sp>
        <p:nvSpPr>
          <p:cNvPr id="105" name="Google Shape;105;p20"/>
          <p:cNvSpPr txBox="1"/>
          <p:nvPr/>
        </p:nvSpPr>
        <p:spPr>
          <a:xfrm>
            <a:off x="307669" y="1543050"/>
            <a:ext cx="4086600" cy="3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800">
                <a:solidFill>
                  <a:schemeClr val="dk1"/>
                </a:solidFill>
              </a:rPr>
              <a:t>Business Impact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1800">
                <a:solidFill>
                  <a:schemeClr val="dk1"/>
                </a:solidFill>
              </a:rPr>
              <a:t>Anticipate employee resignations</a:t>
            </a:r>
            <a:br>
              <a:rPr lang="fr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1800">
                <a:solidFill>
                  <a:schemeClr val="dk1"/>
                </a:solidFill>
              </a:rPr>
              <a:t>Reduce hiring and training costs</a:t>
            </a:r>
            <a:br>
              <a:rPr lang="fr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1800">
                <a:solidFill>
                  <a:schemeClr val="dk1"/>
                </a:solidFill>
              </a:rPr>
              <a:t>Improve employee retention</a:t>
            </a:r>
            <a:br>
              <a:rPr lang="fr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1800">
                <a:solidFill>
                  <a:schemeClr val="dk1"/>
                </a:solidFill>
              </a:rPr>
              <a:t>Support data-driven HR decisions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6" name="Google Shape;106;p20"/>
          <p:cNvSpPr txBox="1"/>
          <p:nvPr/>
        </p:nvSpPr>
        <p:spPr>
          <a:xfrm>
            <a:off x="4687859" y="1578275"/>
            <a:ext cx="4251000" cy="31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800">
                <a:solidFill>
                  <a:schemeClr val="dk1"/>
                </a:solidFill>
              </a:rPr>
              <a:t>Conclusion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>
                <a:solidFill>
                  <a:schemeClr val="dk1"/>
                </a:solidFill>
              </a:rPr>
              <a:t>Smart HR helps companies: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>
                <a:solidFill>
                  <a:schemeClr val="dk1"/>
                </a:solidFill>
              </a:rPr>
              <a:t>→ Predict employee turnover</a:t>
            </a:r>
            <a:br>
              <a:rPr lang="fr" sz="1800">
                <a:solidFill>
                  <a:schemeClr val="dk1"/>
                </a:solidFill>
              </a:rPr>
            </a:br>
            <a:r>
              <a:rPr lang="fr" sz="1800">
                <a:solidFill>
                  <a:schemeClr val="dk1"/>
                </a:solidFill>
              </a:rPr>
              <a:t> → Understand the reasons</a:t>
            </a:r>
            <a:br>
              <a:rPr lang="fr" sz="1800">
                <a:solidFill>
                  <a:schemeClr val="dk1"/>
                </a:solidFill>
              </a:rPr>
            </a:br>
            <a:r>
              <a:rPr lang="fr" sz="1800">
                <a:solidFill>
                  <a:schemeClr val="dk1"/>
                </a:solidFill>
              </a:rPr>
              <a:t> → Take action early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>
                <a:solidFill>
                  <a:schemeClr val="dk1"/>
                </a:solidFill>
              </a:rPr>
              <a:t>Moving from </a:t>
            </a:r>
            <a:r>
              <a:rPr b="1" lang="fr" sz="1800">
                <a:solidFill>
                  <a:schemeClr val="dk1"/>
                </a:solidFill>
              </a:rPr>
              <a:t>reactive</a:t>
            </a:r>
            <a:r>
              <a:rPr lang="fr" sz="1800">
                <a:solidFill>
                  <a:schemeClr val="dk1"/>
                </a:solidFill>
              </a:rPr>
              <a:t> to </a:t>
            </a:r>
            <a:r>
              <a:rPr b="1" lang="fr" sz="1800">
                <a:solidFill>
                  <a:schemeClr val="dk1"/>
                </a:solidFill>
              </a:rPr>
              <a:t>proactive HR management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